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10312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de estudo e alerta de risco de evasão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3749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 e lógica fuzzy contra a evasão no ensino superior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Kauã Limão Nunes · Luan Padilha Miranda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Projeto Prático de IA Generativa · Prof. Patrick Pedreira Silva · 19 de novembro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da metade não termina o que começou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evasão no ensino superior brasileiro não é um risco distante: é o desfecho mais provável para boa parte de quem entra. E o abandono não começa quando a nota cai. Começa quando o aluno para de aparecer.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0473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57,2%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77724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evasão no ensino superior brasileiro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2900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2900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~61%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356616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 rede privada, 64% no ensino a distância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D9A015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 em 4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35508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jovens conclui a graduação que iniciou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06840" y="320040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006840" y="340156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semanas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9144000" y="418795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 antecedência entre sumir e a nota cair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Fontes: Mapa do Ensino Superior 2024 e 2026, Instituto Semesp; OCDE, Education at a Glance 2025.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O SISTEMA FAZ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Duas frentes, duas técnicas de IA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IA generativa com RAG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1440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pergunta e o sistema busca a resposta nos documentos oficiais da disciplina antes de acionar o modelo.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cita a fonte. Quando a informação não está no material, o sistema diz que não sabe em vez de inventar uma data de prova.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828800"/>
            <a:ext cx="5303520" cy="3017520"/>
          </a:xfrm>
          <a:prstGeom prst="roundRect">
            <a:avLst>
              <a:gd name="adj" fmla="val 2424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057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TÉCNICA 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37960" y="2377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7548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Frequência, desempenho e engajamento entram num sistema Mamdani de 27 regras e saem como um score contínuo de risco.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coordenação recebe a turma ordenada de quem precisa de contato primeiro, com a explicação de cada score.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QUE JUSTIFICA O PROJETO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aluno que o critério da secretaria não enxerga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1280160"/>
                <a:gridCol w="1371600"/>
                <a:gridCol w="2011680"/>
                <a:gridCol w="16459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Perfil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Frequência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Média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Acessos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Score fuzzy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Critério por nota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Abandono já em curso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0,901  crítico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Notas boas, desengajando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8,6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E2703A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0,675  alto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D0473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Trajetória saudável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96%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9,1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0,108  baixo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risco</a:t>
                      </a:r>
                      <a:endParaRPr lang="en-US" sz="12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29768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linha do meio é o projeto inteiro. Um critério baseado na média de notas classifica esse aluno como tranquilo. O sistema fuzzy o coloca em risco alto, e a regra 8 explica por quê: bom desempenho não anula a ausência sistemática das aulas, o histórico apenas atrasa o efeito na média.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LÓGICA FUZZY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 quatro etapas do método de Mamdani, escritas do zero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8424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1. Fuzzificação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0" y="200253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valor nítido vira grau de pertinência em cada termo. Frequência de 34% pertence a "baixa" com grau 1,0.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08152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2. Inferência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309981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Cada regra dispara com força igual ao mínimo dos seus antecedentes, que é a norma T de Mamdani.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17880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3. Agregação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657600" y="419709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consequente de cada regra é recortado pela força dela, e a união sai pelo máximo.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76088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4. Defuzzificação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657600" y="5294376"/>
            <a:ext cx="7680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centroide da área agregada vira o score de 0 a 1. Leva em conta a área inteira, que é o que produz a gradação.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Base fatorial completa: 3 x 3 x 3 = 27 regras. Nenhuma entrada cai num vazio da base.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barreiras contra alucinação, e por que precisam ser três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881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Uma instrução de prompt é um pedido, não uma garantia. O modelo pode desobedecer. As barreiras que valem são as que rodam antes e depois dele.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ANTES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Limiar de similaridade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Contexto irrelevante nunca chega ao modelo. A decisão de admitir ignorância mora no código.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4340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DURANTE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Instrução de sistema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 a citar a origem e a admitir quando a resposta não está no contexto.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046720" y="3017520"/>
            <a:ext cx="3520440" cy="2194560"/>
          </a:xfrm>
          <a:prstGeom prst="roundRect">
            <a:avLst>
              <a:gd name="adj" fmla="val 3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75320" y="320040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DEPOIS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75320" y="3493008"/>
            <a:ext cx="3108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Verificação de citação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75320" y="411480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 a resposta pronta, confere se ela realmente aponta um dos documentos fornecidos.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55778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sistema também funciona sem chave de API: nesse modo ele transcreve o documento em vez de redigir, o que é ainda mais estrito quanto a não inventar.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Três defeitos que só a medição revelou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Trigramas afogando o sinal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0%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Indexar trigramas de caracteres multiplicava por cinco as unidades. Em 768 dimensões, a colisão dominou: perguntas fora do material pontuavam MAIS que as respondíveis.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Interrogativos sem IDF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arruinada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"Quando", "qual", "como" casavam com qualquer trecho. Uma pergunta sem resposta no material marcava 0,210; virou 0,069 ao tratá-los como palavras vazias.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Recorte abaixo da unidade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44% → 89%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resposta escolhia FRASES. "24 de setembro" e "Prova P1" são frases separadas: o sistema devolvia a confirmação da prova, sem a data.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Nenhum destes seria visível testando à mão com meia dúzia de perguntas. Todos pareciam código correto.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Mais três, e os piores: os que pareciam funcionar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96596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Enumeração com um item só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59152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78% → 91%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03520" y="1993392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é o conteúdo das aulas?" devolvia a primeira aula do semestre, citada e correta. Similaridade alta, fonte apontada, metade da resposta faltando, e nada sinalizando isso.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310128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4472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régua medindo errado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14400" y="384048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Recusa 0/8 → 6/8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03520" y="347472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bateria de avaliação aplicava o limiar do modo local (0,15) também ao modo generativo, cujo limiar é 0,65. A métrica media o que a ferramenta fazia, não o que o sistema fazia.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4791456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928616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Pergunta curta, recusa errada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" y="53218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2703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89% → 100%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303520" y="4956048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"Quando é a Prova P1?" respondia; "quando vai ser a prova" recusava, com a mesma similaridade. O registro de consultas mostrou o par. A busca ganhou um segundo braço, por casamento de termos.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Os dois primeiros a medição revelou. O terceiro só o uso revelou, e quem o encontrou foi o registro de perguntas.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VISÃO CRÍTICA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medimos, e o que não conseguimos resolver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7724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41 perguntas respondíveis foram respondidas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2900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56616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das 8 perguntas fora do material foram recusadas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35508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inversões de faixa em 26.460 comparações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06840" y="1783080"/>
            <a:ext cx="2560320" cy="1737360"/>
          </a:xfrm>
          <a:prstGeom prst="roundRect">
            <a:avLst>
              <a:gd name="adj" fmla="val 4211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06840" y="1984248"/>
            <a:ext cx="2560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21/21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144000" y="2770632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casos da bateria adversarial de barreiras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840480"/>
            <a:ext cx="10881360" cy="1920240"/>
          </a:xfrm>
          <a:prstGeom prst="roundRect">
            <a:avLst>
              <a:gd name="adj" fmla="val 3810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023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risco que não conseguimos eliminar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14400" y="443484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maior risco deste sistema não é inventar uma data. É repetir com confiança a data certa de uma ementa do semestre passado. O RAG resolve alucinação, não desatualização.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mitigação é parcial: todo documento carrega uma referência de data que aparece em toda citação. Uma solução real exigiria integração com o sistema acadêmico.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FERRAMENTAS DE IA GENERATIVA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que cada uma resolveu, e onde falhou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06240"/>
                <a:gridCol w="46634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Ferramenta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Uso no projeto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Limitação observada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ChatGPT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Brainstorm de modelagem e critérios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Sugere estruturas plausíveis, mas genéricas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Claude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Documentação técnica e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Escreve mais do que o necessário se não for contido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Gemini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Motor embarcado: texto 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Cota da linha flash acaba; versões são aposentadas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Grok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Teste comparativo de respostas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Sem API gratuita e sem endpoint de embeddings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Cursor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Desenvolvimento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Erra em silêncio no que parece certo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Dify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Protótipo do RAG antes do código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9FADBE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Não permite controlar o limiar de relevância</a:t>
                      </a:r>
                      <a:endParaRPr lang="en-US" sz="12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B384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6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34924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limitação do Dify foi o que nos levou ao código próprio: o limiar é o parâmetro que decide entre responder e admitir ignorância, e é o mais importante do sistema para o nosso objetivo.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ÉTICA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Sobre o uso de IA neste trabalho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Feito com apoio de IA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256032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Boa parte do código: rotas, validações, interface e testes de tabela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Estruturação da documentação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Revisão de ortografia e clareza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303520" cy="3200400"/>
          </a:xfrm>
          <a:prstGeom prst="roundRect">
            <a:avLst>
              <a:gd name="adj" fmla="val 2286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0574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Decisão do grupo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2560320"/>
            <a:ext cx="47548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arquitetura e os ADRs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A calibração dos conjuntos e das 27 regras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Escrever o motor Mamdani do zero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Não mostrar o score ao aluno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• O conjunto de avaliação e a leitura dos resultados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Todo número deste trabalho sai de um script executável do repositório. Nenhum foi estimado. Onde não medimos, dissemos que não medimos.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DEMONSTRAÇÃO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Ao vivo, em permaneia.vercel.app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874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Painel de risco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480560" y="18470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Entrar como coordenação. A turma ordenada por score, abrir o aluno do topo e mostrar as regras que produziram o número.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7889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54480" y="2743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 caso central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480560" y="27614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Frequência 34% com média 8,6. Risco alto pelo fuzzy, sem risco pelo critério de nota.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37033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54480" y="36576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respondendo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480560" y="36758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Trocar para a conta de aluno: os dois papéis não se sobrepõem. "Quando é a Prova P1?" devolve a data com a fonte citada.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805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6177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5448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enumerando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480560" y="45902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"Quais são os temas de todas as aulas?" devolve o semestre inteiro, e não a aula que ficou em primeiro na busca.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39496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141B26"/>
          </a:solidFill>
          <a:ln w="12700">
            <a:solidFill>
              <a:srgbClr val="2B384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5321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54480" y="54864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Assistente recusando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480560" y="5504688"/>
            <a:ext cx="68580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"Qual o valor da mensalidade?" O sistema admite que não sabe.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PermaneIA · Inteligência Artificial · 2026-2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85855" y="6400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2A0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3774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RAG não deixa a IA mais inteligente.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2004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45BD8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Deixa ela mais honesta.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 a lógica fuzzy não prevê o futuro. Ela só recusa a fingir que o risco é uma coisa ou outra.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AEF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Obrigado. Perguntas?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56235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ADBE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Camila Pereira Raimundo · Fabrício Júnio Almeida Dias · Kauã Limão Nunes · Luan Padilha Miranda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1829A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github.com/fabriciojunio/permaneia · permaneia.vercel.app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Unisagrado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PermaneIA</dc:title>
  <dc:subject>Projeto Prático de IA Generativa</dc:subject>
  <dc:creator>Grupo PermaneIA</dc:creator>
  <cp:lastModifiedBy>Grupo PermaneIA</cp:lastModifiedBy>
  <cp:revision>1</cp:revision>
  <dcterms:created xsi:type="dcterms:W3CDTF">2026-08-22T23:26:16Z</dcterms:created>
  <dcterms:modified xsi:type="dcterms:W3CDTF">2026-08-22T23:26:16Z</dcterms:modified>
</cp:coreProperties>
</file>