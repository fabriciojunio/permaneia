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64,7%: de desistência acumulada na rede privada, no ciclo 2020–2024. Instituto Semesp, Mapa do Ensino Superior 2026. Indicadores de trajetória, base Inep. https://www.semesp.org.br/mapa/edicao-16/brasil/
68,1%: de desistência acumulada no EAD privado, no ciclo 2020–2024. Instituto Semesp, Mapa do Ensino Superior 2026. Indicadores de trajetória, base Inep. https://www.semesp.org.br/mapa/edicao-16/brasil/
49%: dos ingressantes em bacharelados no Brasil concluem até três anos após a duração prevista. OCDE, Education at a Glance 2025, nota do Brasil, tabela B5.1. https://www.oecd.org/en/publications/education-at-a-glance-2025_1a3543e2-en/brazil_d42263a0-en.html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A0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Assistente de estudo e alerta de risco de evasão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IA generativa com RAG e lógica fuzzy contra a evasão no ensino superior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Camila Pereira Raimundo · Fabrício Júnio Almeida Dias · Ian Felipe Amaral Oliveira Silva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Kauã Limão Nunes · Luan Padilha Miranda · Lucas Massamiti Tsuji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Projeto Prático de IA Generativa · Prof. Patrick Pedreira Silva · 19 de novembro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Permanência exige acompanhamento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Os indicadores abaixo usam populações e períodos diferentes. Eles contextualizam o problema; não medem a eficácia do PermaneIA. O alerta fuzzy é uma heurística acadêmica, ainda sem validação preditiva com alunos reais.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01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047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64,7%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1879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desistência acumulada na rede privada, no ciclo 2020–2024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2004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3401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68,1%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80560" y="41879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desistência acumulada no EAD privado, no ciclo 2020–2024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32004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401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49%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83880" y="41879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dos ingressantes em bacharelados no Brasil concluem até três anos após a duração prevista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Fontes: Semesp, Mapa do Ensino Superior 2026 (trajetória 2020–2024); OCDE, Education at a Glance 2025, Brasil, tabela B5.1.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QUE O SISTEMA FAZ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Duas frentes, duas técnicas de 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TÉCNICA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IA generativa com RAG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aluno pergunta e o sistema busca a resposta nos documentos oficiais da disciplina antes de acionar o modelo.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resposta cita a fonte. Quando a informação não está no material, o sistema diz que não sabe em vez de inventar uma data de prova.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TÉCNICA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Lógica fuzzy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Frequência, desempenho e engajamento entram num sistema Mamdani de 27 regras e saem como um score contínuo de risco.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coordenação recebe a turma ordenada de quem precisa de contato primeiro, com a explicação de cada score.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EXEMPLO SINTÉTICO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Um alerta além da média de notas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1280160"/>
                <a:gridCol w="1371600"/>
                <a:gridCol w="2011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Perfil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Frequência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Média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Acessos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Score fuzzy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Critério por nota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Abandono já em curso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18%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2,1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0,901  crítico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em risco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Notas boas, desengajando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34%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8,6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2703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0,675  alto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473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SEM RISCO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Trajetória saudável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96%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9,1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34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0,108  baixo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sem risco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referência simplificada por nota não sinaliza o caso da linha do meio. A regra fuzzy combina baixa frequência e poucos acessos, mesmo com nota alta. O exemplo mostra a diferença entre os critérios; não prova que algum deles prevê evasão real.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LÓGICA FUZZY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 quatro etapas do método de Mamdani, escritas do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84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Fuzzificação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0253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valor nítido vira grau de pertinência em cada termo. Frequência de 34% pertence a "baixa" com grau 1,0.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Inferência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09981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regra dispara com força igual ao mínimo dos seus antecedentes, que é a norma T de Mamdani.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78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Agregação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419709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consequente de cada regra é recortado pela força dela, e a união sai pelo máximo.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76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Defuzzificação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529437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centroide da área agregada vira o score de 0 a 1. Leva em conta a área inteira, que é o que produz a gradação.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fatorial completa: 3 x 3 x 3 = 27 regras. Nenhuma entrada cai num vazio da base.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Três barreiras contra alucinação, e por que precisam ser três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Uma instrução de prompt é um pedido, não uma garantia. O modelo pode desobedecer. As barreiras que valem são as que rodam antes e depois dele.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Limiar de similaridade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Contexto irrelevante nunca chega ao modelo. A decisão de admitir ignorância mora no código.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DURANTE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34930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Instrução de sistema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Obriga a citar a origem e a admitir quando a resposta não está no contexto.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DEPOIS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34930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Verificação de citação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 a resposta pronta, confere se ela realmente aponta um dos documentos fornecidos.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sistema também funciona sem chave de API: nesse modo ele transcreve o documento em vez de redigir, o que é ainda mais estrito quanto a não inventar.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VISÃO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Três defeitos que só a medição revelou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Trigramas afogando o sinal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Cobertura 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99339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Indexar trigramas de caracteres multiplicava por cinco as unidades. Em 768 dimensões, a colisão dominou: perguntas fora do material pontuavam MAIS que as respondíveis.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47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Interrogativos sem IDF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Recusa arruinada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34747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"Quando", "qual", "como" casavam com qualquer trecho. Uma pergunta sem resposta no material marcava 0,210; virou 0,069 ao tratá-los como palavras vazias.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79145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Recorte abaixo da unidade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Cobertura 44% → 89%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495604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resposta escolhia FRASES. "24 de setembro" e "Prova P1" são frases separadas: o sistema devolvia a confirmação da prova, sem a data.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Nenhum destes seria visível testando à mão com meia dúzia de perguntas. Todos pareciam código correto.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VISÃO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Mais três, e os piores: os que pareciam funcionar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Enumeração com um item só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Cobertura 78% → 91%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99339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"Qual é o conteúdo das aulas?" devolvia a primeira aula do semestre, citada e correta. Similaridade alta, fonte apontada, metade da resposta faltando, e nada sinalizando isso.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47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régua medindo errado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Recusa 0/8 → 6/8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34747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bateria de avaliação aplicava o limiar do modo local (0,15) também ao modo generativo, cujo limiar é 0,65. A métrica media o que a ferramenta fazia, não o que o sistema fazia.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79145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Pergunta curta, recusa errada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Cobertura 89% → 100%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495604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"Quando é a Prova P1?" respondia; "quando vai ser a prova" recusava, com a mesma similaridade. O registro de consultas mostrou o par. A busca ganhou um segundo braço, por casamento de termos.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1996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Os dois primeiros a medição revelou. O terceiro só o uso revelou, e quem o encontrou foi o registro de perguntas.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RESULTADOS HISTÓRICOS DA BATERIA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Métricas com escopo limitado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8424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70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das 41 perguntas respondíveis foram respondidas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98424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2770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das 8 perguntas fora do material foram recusadas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8424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770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inversões de faixa em 26.460 comparações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98424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21/21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770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casos da bateria adversarial de barreiras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risco que não conseguimos eliminar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Esses resultados correspondem às configurações registradas em AVALIACAO-RAG.md e não garantem o desempenho de novas versões. O RAG pode gerar respostas incorretas ou usar documentos desatualizados.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referência de data ajuda a revisão, mas não prova atualidade nem fidelidade de toda a resposta. O score fuzzy ainda exige avaliação com dados reais.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FERRAMENTAS DE IA GENERATIVA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que cada uma resolveu, e onde falhou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Ferramenta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 no projeto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Limitação observada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ChatGPT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Brainstorm de modelagem e critérios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Sugere estruturas plausíveis, mas genéricas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Claude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Documentação técnica e código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Escreve mais do que o necessário se não for contido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Gemini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Motor embarcado: texto e embeddings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Cota da linha flash acaba; versões são aposentadas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Grok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Teste comparativo de respostas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Sem API gratuita e sem endpoint de embeddings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Cursor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Desenvolvimento do código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Erra em silêncio no que parece certo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Dify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Protótipo do RAG antes do código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ADB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Não permite controlar o limiar de relevância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limitação do Dify foi o que nos levou ao código próprio: o limiar é o parâmetro que decide entre responder e admitir ignorância, e é o mais importante do sistema para o nosso objetivo.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OBSERVABILIDADE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que a instrumentação revelou sobre o custo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95,7% dos tokens são de entrada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razão de 22,4 para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99339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 30 chamadas reais ao Gemini: 38.117 tokens de entrada contra 1.701 de saída. A alavanca de custo num RAG não é trocar por um modelo mais barato para gerar, é recuperar menos trecho.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47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p50 1,4 s · p95 20,5 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104 consultas, 41,3% de recusa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34747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p95 não é o modelo pensando: é partida a frio da função sem servidor somada ao banco acordando da suspensão. Só a média esconderia quem abre o assistente primeiro no dia.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79145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Telemetria falha calada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defeitos, 2 em produção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495604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Uma chave gravada com marca de ordem de byte derrubou TODA requisição, inclusive a de saúde. Duas cópias da biblioteca de rastro deixaram o painel vazio sem erro nenhum.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única prova de que a telemetria funciona é ler o dado de volta.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ÉTICA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Sobre o uso de IA neste trabalho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Feito com apoio de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Boa parte do código: rotas, validações, interface e testes de tabela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Estruturação da documentação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Revisão de ortografia e clareza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Decisão do grupo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A arquitetura e os ADRs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A calibração dos conjuntos e das 27 regras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Escrever o motor Mamdani do zero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Não mostrar o score ao aluno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 O conjunto de avaliação e a leitura dos resultados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Todo número deste trabalho sai de um script executável do repositório. Nenhum foi estimado. Onde não medimos, dissemos que não medimos.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Ao vivo, em permaneia.vercel.app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Painel de risco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80560" y="184708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Entrar como coordenação. A turma ordenada por score, abrir o aluno do topo e mostrar as regras que produziram o número.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 caso central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76148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Frequência 34% com média 8,6. Risco alto pelo fuzzy, sem risco pelo critério de nota.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Assistente respondendo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367588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Trocar para a conta de aluno: os dois papéis não se sobrepõem. "Quando é a Prova P1?" devolve a data com a fonte citada.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Assistente enumerando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459028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"Quais são os temas de todas as aulas?" devolve o semestre inteiro, e não a aula que ficou em primeiro na busca.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B26"/>
          </a:solidFill>
          <a:ln w="12700">
            <a:solidFill>
              <a:srgbClr val="2B38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32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Assistente recusando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550468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"Qual o valor da mensalidade?" O sistema admite que não sabe.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PermaneIA · Inteligência Artificial · 2026-2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A0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RAG não deixa a IA mais inteligente.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5BD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Deixa ela mais honesta.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 a lógica fuzzy não prevê o futuro. Ela só recusa a fingir que o risco é uma coisa ou outra.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E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Obrigado. Perguntas?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Camila Pereira Raimundo · Fabrício Júnio Almeida Dias · Ian Felipe Amaral Oliveira Silva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AD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Kauã Limão Nunes · Luan Padilha Miranda · Lucas Massamiti Tsuji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29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github.com/fabriciojunio/permaneia · permaneia.vercel.app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Unisagrado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PermaneIA</dc:title>
  <dc:subject>Projeto Prático de IA Generativa</dc:subject>
  <dc:creator>Grupo PermaneIA</dc:creator>
  <cp:lastModifiedBy>Grupo PermaneIA</cp:lastModifiedBy>
  <cp:revision>1</cp:revision>
  <dcterms:created xsi:type="dcterms:W3CDTF">2026-10-11T20:18:24Z</dcterms:created>
  <dcterms:modified xsi:type="dcterms:W3CDTF">2026-10-11T20:18:24Z</dcterms:modified>
</cp:coreProperties>
</file>